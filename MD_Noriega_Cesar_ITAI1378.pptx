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3BB6-60DA-3022-3F5E-222C77B34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155A1-906C-7832-79EF-440C8865E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4C1AB-2643-22E9-5FE4-B268F4B5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F6EBD-D2F6-FF5F-319A-03FC183D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79CC5-E799-CF0F-AD1C-11AFDEA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5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BF86-4D16-7978-9929-635DD677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E942-F21D-0203-8410-26385C787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471B-0E02-27EB-2DD1-7FE8F21C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1AC5-FB64-7604-255B-B348EAB6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89592-AC0D-3D0D-5074-733E0BA3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3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4D0A-A2A2-3122-B6EB-E98BB8B2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68143-BB01-24C5-0E25-CE96FE9A8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2181-D3C6-5169-9F59-478C67B3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4D1A-B3B9-6117-B50D-E7FB3C78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20563-9C47-9834-3863-B337CC0B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2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DEBB-F4B0-07FA-EF67-5747E176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9BC6-E018-E510-2528-955B7EA9E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773F-2B73-EC52-E8A8-5CC4572F5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55D79-B395-32B0-AEA7-DF343580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BDC4F-EC78-D73B-BE50-4BC37237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D4FF9-46EC-C57A-720D-B568D2EF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9477-3BD6-86F1-74EE-2D35B413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CF46-DEE9-29B8-2B03-1B880A8B7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626B8-8E3A-40AC-12D4-6E1F0049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0E096-9158-43CD-A465-27EAA4B44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FC0C8-CEC1-1CD9-0465-BDA5D285E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FA30E-161C-3CAF-F2A0-F6CB4AA2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69B90-3892-37AE-C0A9-A2EBAB0A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3FE2-0CC5-0825-1DB6-713105CE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3CED-B6B0-28A4-1386-9BA8DA52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35B03-F8F3-7961-897A-727741B8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A87F1-466A-AFB4-8386-16E0BAF5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7ABD9-4255-520A-9F92-37DE9E4A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5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70DAD-F0C4-24F5-47BB-5A56DD4E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F0BD0-4711-1CC6-3D98-A99488B7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CC92E-0C79-0952-ABD5-EA6823EA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3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3808-4D2D-B4DA-FB6B-D2507F73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879F-1A2E-4125-082E-3A4B25EF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C0E61-E163-479F-FAF7-A3949B8B8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D0654-B41A-894C-1A64-6A09AAB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74C76-498B-40F2-80EC-81BDF7D5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23C1-FA78-EA56-FDA9-661116F0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2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8652-39B3-69AA-704A-1C0E3AE3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F10E0-2AF9-A8E4-2903-49C2C449B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0325-39DF-5AE2-F36F-F49BAB9C7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EA18A-D432-8439-8B1F-3E4CEFD1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3254B-7622-617E-6B38-7ADDD015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31389-B9F4-2910-40A8-FD9C8B13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2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F043-8255-D49F-8345-1E9B567C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37EB7-3214-A14E-59B8-78192AF3B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265CD-02CC-7B72-F544-D4189534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2FF8-568C-CDAB-0FF6-9CCA875B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7E94-D82E-C324-658A-211FC6F9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5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0BF6F-CDB6-EEC3-96D4-70836BCF7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A0DBE-E931-E652-BEFD-767618184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A8B4D-0688-0A0B-B3F3-C24A8970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5B20A-1CBE-4BB4-29A3-AFA58FED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2ED44-87A5-1A42-810E-833FDB8D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1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BF729-C930-6BF3-580F-4D0668A7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075AB-C61B-05D4-A0FF-E4CB6CCB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5FFAA-1510-0741-D1E9-A375526EB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E29D6-6396-44E5-8ED1-D7EE599F550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1E81-E6E2-27A3-14DD-60ED45CD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645B7-22A6-0BA7-6299-D60F428A8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9B0B-8507-41C7-BD0C-EE02651E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7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0CFB36-76A3-C8FB-1E76-7E833683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FFA979-3BDD-A2CB-0D40-BFC0E27B2C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Title</a:t>
            </a:r>
          </a:p>
          <a:p>
            <a:endParaRPr lang="en-US" dirty="0"/>
          </a:p>
          <a:p>
            <a:r>
              <a:rPr lang="en-US" dirty="0"/>
              <a:t>Warehouse Automation </a:t>
            </a:r>
          </a:p>
          <a:p>
            <a:r>
              <a:rPr lang="en-US" dirty="0"/>
              <a:t>Cesar Noriega Martinez</a:t>
            </a:r>
          </a:p>
          <a:p>
            <a:r>
              <a:rPr lang="en-US" dirty="0" err="1"/>
              <a:t>Proyect</a:t>
            </a:r>
            <a:r>
              <a:rPr lang="en-US" dirty="0"/>
              <a:t> Tier: Tier 2 – Moderate complexity, real-world impact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1F0BE-53D1-2335-37AA-72843E7C4F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6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B990-7B52-89E4-1934-D43AD4F2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614E-83D1-B8B1-D759-081CE3826E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The problem</a:t>
            </a:r>
          </a:p>
          <a:p>
            <a:endParaRPr lang="en-US" dirty="0"/>
          </a:p>
          <a:p>
            <a:r>
              <a:rPr lang="en-US" dirty="0"/>
              <a:t>Problem: Workers spend hours manually counting inventory, especially items with similar appearance but different sizes (e.g., elbows). </a:t>
            </a:r>
          </a:p>
          <a:p>
            <a:r>
              <a:rPr lang="en-US" dirty="0"/>
              <a:t>Who cares: Warehouse managers, logistics teams, manufacturers.</a:t>
            </a:r>
          </a:p>
          <a:p>
            <a:r>
              <a:rPr lang="en-US" dirty="0"/>
              <a:t> Why important: Manual counting is slow, error-prone, and costly.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A3A73-0BEA-137C-EA14-53B0770980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7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6DE6-ECF7-9F2F-C948-99D2DA44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DFCA-B99C-3D1B-6E41-304954F1AB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Integral Solution</a:t>
            </a:r>
          </a:p>
          <a:p>
            <a:endParaRPr lang="en-US" dirty="0"/>
          </a:p>
          <a:p>
            <a:r>
              <a:rPr lang="en-US" dirty="0"/>
              <a:t>Solution: Computer vision system that detects and counts inventory items using YOLOv8. </a:t>
            </a:r>
          </a:p>
          <a:p>
            <a:r>
              <a:rPr lang="en-US" dirty="0"/>
              <a:t>Summary: Camera → YOLOv8 detects elbows → Counts by size → Generates report.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BA2D4-BAE8-A9C4-937D-DFF90FC325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0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7BBC-E32B-2F41-D4A9-77088E2D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1F79-A173-BEF2-A208-A474A7E105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Technical Approach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Technique: Object Detection</a:t>
            </a:r>
          </a:p>
          <a:p>
            <a:r>
              <a:rPr lang="en-US" dirty="0"/>
              <a:t>Model: YOLOv8 (</a:t>
            </a:r>
            <a:r>
              <a:rPr lang="en-US" dirty="0" err="1"/>
              <a:t>Ultralytics</a:t>
            </a:r>
            <a:r>
              <a:rPr lang="en-US" dirty="0"/>
              <a:t>)</a:t>
            </a:r>
          </a:p>
          <a:p>
            <a:r>
              <a:rPr lang="en-US" dirty="0"/>
              <a:t>Framework: </a:t>
            </a:r>
            <a:r>
              <a:rPr lang="en-US" dirty="0" err="1"/>
              <a:t>PyTorch</a:t>
            </a:r>
            <a:r>
              <a:rPr lang="en-US" dirty="0"/>
              <a:t> + </a:t>
            </a:r>
            <a:r>
              <a:rPr lang="en-US" dirty="0" err="1"/>
              <a:t>Ultralytics</a:t>
            </a:r>
            <a:r>
              <a:rPr lang="en-US" dirty="0"/>
              <a:t> </a:t>
            </a:r>
          </a:p>
          <a:p>
            <a:r>
              <a:rPr lang="en-US" dirty="0"/>
              <a:t>Justification: YOLOv8 is fast, accurate, and supports custom training for similar-looking objects.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E8372-898F-3FDB-4713-869977780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6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FAAD-72D8-FD97-FEE3-48C7BC02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E4116-2725-1C75-3A61-E1AEABBEB1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Data Plan</a:t>
            </a:r>
          </a:p>
          <a:p>
            <a:r>
              <a:rPr lang="en-US" dirty="0"/>
              <a:t>Source: </a:t>
            </a:r>
            <a:r>
              <a:rPr lang="en-US" dirty="0" err="1"/>
              <a:t>Roboflow</a:t>
            </a:r>
            <a:r>
              <a:rPr lang="en-US" dirty="0"/>
              <a:t> custom dataset or own collection</a:t>
            </a:r>
          </a:p>
          <a:p>
            <a:r>
              <a:rPr lang="en-US" dirty="0"/>
              <a:t>Size: ~1,000 images</a:t>
            </a:r>
          </a:p>
          <a:p>
            <a:r>
              <a:rPr lang="en-US" dirty="0"/>
              <a:t>Labels: Elbow type and size (e.g., small, medium, large)</a:t>
            </a:r>
          </a:p>
          <a:p>
            <a:r>
              <a:rPr lang="en-US" dirty="0"/>
              <a:t>Preparation: Manual labeling with </a:t>
            </a:r>
            <a:r>
              <a:rPr lang="en-US" dirty="0" err="1"/>
              <a:t>Roboflow</a:t>
            </a:r>
            <a:r>
              <a:rPr lang="en-US" dirty="0"/>
              <a:t>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94B1C-4758-435B-BC5B-7CE996C73B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9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ABFA-7178-41EB-760F-6E0FA923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1E0A7-F83A-7F24-3797-66BE72B21F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System Diagram</a:t>
            </a:r>
          </a:p>
          <a:p>
            <a:r>
              <a:rPr lang="en-US" dirty="0"/>
              <a:t>Code</a:t>
            </a:r>
          </a:p>
          <a:p>
            <a:pPr marL="0" indent="0">
              <a:buNone/>
            </a:pPr>
            <a:r>
              <a:rPr lang="en-US" dirty="0"/>
              <a:t>[Camera Input] → [YOLOv8 Detection] → [Size Classification] → [Count Report]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7E56A-69BA-4ED2-46A3-2EB6A6579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23BA-054A-9822-5B2C-080F3E2A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4C87A-3095-72E4-8B54-85ED9DAE20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Succes</a:t>
            </a:r>
            <a:r>
              <a:rPr lang="en-US" dirty="0"/>
              <a:t> Metrics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4CB09E-B8C3-EB90-95F0-E243016DE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3648058"/>
              </p:ext>
            </p:extLst>
          </p:nvPr>
        </p:nvGraphicFramePr>
        <p:xfrm>
          <a:off x="889000" y="3342974"/>
          <a:ext cx="5080000" cy="1057847"/>
        </p:xfrm>
        <a:graphic>
          <a:graphicData uri="http://schemas.openxmlformats.org/drawingml/2006/table">
            <a:tbl>
              <a:tblPr firstRow="1" firstCol="1" bandRow="1"/>
              <a:tblGrid>
                <a:gridCol w="1692910">
                  <a:extLst>
                    <a:ext uri="{9D8B030D-6E8A-4147-A177-3AD203B41FA5}">
                      <a16:colId xmlns:a16="http://schemas.microsoft.com/office/drawing/2014/main" val="2623521401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3436844961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1395733374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Metric Type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19417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Primary Metric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Detection Accuracy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≥ 90%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644037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Secondary Metric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Latency per image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&lt; 1 second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32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6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AD99-3519-C41A-4750-474B10B1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6785-A7D2-3B2C-0BC9-78110DED0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Week by Week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585456-473D-097A-6DA3-95C1B55411B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8958471"/>
              </p:ext>
            </p:extLst>
          </p:nvPr>
        </p:nvGraphicFramePr>
        <p:xfrm>
          <a:off x="1049068" y="3193105"/>
          <a:ext cx="5080000" cy="1771653"/>
        </p:xfrm>
        <a:graphic>
          <a:graphicData uri="http://schemas.openxmlformats.org/drawingml/2006/table">
            <a:tbl>
              <a:tblPr firstRow="1" firstCol="1" bandRow="1"/>
              <a:tblGrid>
                <a:gridCol w="1692910">
                  <a:extLst>
                    <a:ext uri="{9D8B030D-6E8A-4147-A177-3AD203B41FA5}">
                      <a16:colId xmlns:a16="http://schemas.microsoft.com/office/drawing/2014/main" val="2182851659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1692648356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1808771996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8695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 dataset, set up env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Dataset ready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84929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Train/fine-tune YOLOv8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 working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550094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 and improve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Good accuracy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592379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Create demo/video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 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725701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 testing/docs	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Everything done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43369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 project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06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7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6CBC-79E7-8135-3C1E-BABB6492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0C62-8F89-811C-C598-A34E685572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Challenges &amp; Backup Plans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Similar-looking items → Use bounding box + size classification</a:t>
            </a:r>
          </a:p>
          <a:p>
            <a:pPr marL="0" indent="0">
              <a:buNone/>
            </a:pPr>
            <a:r>
              <a:rPr lang="en-US" dirty="0"/>
              <a:t>Low accuracy → Add data augmentation</a:t>
            </a:r>
          </a:p>
          <a:p>
            <a:pPr marL="0" indent="0">
              <a:buNone/>
            </a:pPr>
            <a:r>
              <a:rPr lang="en-US" dirty="0"/>
              <a:t>Missing data → Use </a:t>
            </a:r>
            <a:r>
              <a:rPr lang="en-US" dirty="0" err="1"/>
              <a:t>Roboflow</a:t>
            </a:r>
            <a:r>
              <a:rPr lang="en-US" dirty="0"/>
              <a:t> public datasets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FFE7-E6D3-50B6-8FDE-47A6C837B9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A8FC-1AC0-79AE-7440-EBF31388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Computer Vision and AI : ITAI 1378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4852C-6E72-DE55-7B87-2F85ADAD63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Resources Needed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FF67AD-DC00-4BDB-BAB8-662FFEA909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4176291"/>
              </p:ext>
            </p:extLst>
          </p:nvPr>
        </p:nvGraphicFramePr>
        <p:xfrm>
          <a:off x="1735772" y="3450566"/>
          <a:ext cx="3386455" cy="945771"/>
        </p:xfrm>
        <a:graphic>
          <a:graphicData uri="http://schemas.openxmlformats.org/drawingml/2006/table">
            <a:tbl>
              <a:tblPr firstRow="1" firstCol="1" bandRow="1"/>
              <a:tblGrid>
                <a:gridCol w="1692910">
                  <a:extLst>
                    <a:ext uri="{9D8B030D-6E8A-4147-A177-3AD203B41FA5}">
                      <a16:colId xmlns:a16="http://schemas.microsoft.com/office/drawing/2014/main" val="3455700364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27406210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Options/Notes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63255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Google Colab (free)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033448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PyTorch, Ultralytics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25150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$0–$10  (</a:t>
                      </a:r>
                      <a:r>
                        <a:rPr lang="en-US" sz="1200" kern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Roboflow</a:t>
                      </a: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optional API)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97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41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  <vt:lpstr>Computer Vision and AI : ITAI 1378</vt:lpstr>
    </vt:vector>
  </TitlesOfParts>
  <Company>Houston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cesarantonio.noriegamartinez-W214156913</dc:creator>
  <cp:lastModifiedBy>cesarantonio.noriegamartinez-W214156913</cp:lastModifiedBy>
  <cp:revision>2</cp:revision>
  <dcterms:created xsi:type="dcterms:W3CDTF">2025-11-07T00:00:03Z</dcterms:created>
  <dcterms:modified xsi:type="dcterms:W3CDTF">2025-11-07T00:17:19Z</dcterms:modified>
</cp:coreProperties>
</file>